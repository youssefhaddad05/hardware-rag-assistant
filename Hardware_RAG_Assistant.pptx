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WsP+FVT+0GX89l3ZvFLkvZxJY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B28892-6D8C-42C1-8BD6-BB0C6B6D29F7}">
  <a:tblStyle styleId="{17B28892-6D8C-42C1-8BD6-BB0C6B6D29F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71C1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71C1D"/>
                </a:solidFill>
                <a:latin typeface="Calibri"/>
              </a:rPr>
              <a:t>10 Evaluation Questions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90011"/>
              </a:solidFill>
              <a:effectLst/>
            </c:spPr>
          </c:dPt>
          <c:dPt>
            <c:idx val="1"/>
            <c:bubble3D val="0"/>
            <c:spPr>
              <a:solidFill>
                <a:srgbClr val="F5D3D7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Grounded &amp; Correct</c:v>
                </c:pt>
                <c:pt idx="1">
                  <c:v>Correctly Refused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</c:v>
                </c:pt>
                <c:pt idx="1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71C1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10" Type="http://schemas.openxmlformats.org/officeDocument/2006/relationships/image" Target="../media/image6.png"/><Relationship Id="rId9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10" Type="http://schemas.openxmlformats.org/officeDocument/2006/relationships/image" Target="../media/image17.png"/><Relationship Id="rId9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11" Type="http://schemas.openxmlformats.org/officeDocument/2006/relationships/image" Target="../media/image6.png"/><Relationship Id="rId10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42.png"/><Relationship Id="rId6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41.png"/><Relationship Id="rId6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42.png"/><Relationship Id="rId9" Type="http://schemas.openxmlformats.org/officeDocument/2006/relationships/image" Target="../media/image25.png"/><Relationship Id="rId5" Type="http://schemas.openxmlformats.org/officeDocument/2006/relationships/image" Target="../media/image35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41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Relationship Id="rId4" Type="http://schemas.openxmlformats.org/officeDocument/2006/relationships/image" Target="../media/image50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67.png"/><Relationship Id="rId7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3.png"/><Relationship Id="rId4" Type="http://schemas.openxmlformats.org/officeDocument/2006/relationships/image" Target="../media/image15.png"/><Relationship Id="rId5" Type="http://schemas.openxmlformats.org/officeDocument/2006/relationships/image" Target="../media/image5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Relationship Id="rId5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F0A1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2103120" y="4572000"/>
            <a:ext cx="4572000" cy="457200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881360" y="5120640"/>
            <a:ext cx="2377440" cy="2377440"/>
          </a:xfrm>
          <a:prstGeom prst="ellipse">
            <a:avLst/>
          </a:prstGeom>
          <a:solidFill>
            <a:srgbClr val="C2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413248" y="777240"/>
            <a:ext cx="1371600" cy="137160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ip_FFFFFF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6148" y="112014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LEVEL 2 SUMMER TRAINING  ·  GRADUATION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269748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Hardware Technical Documentation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RAG Assistant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280160" y="416052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A local Retrieval-Augmented Generation system that answers hardware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questions using grounded, cited answers from official technical documentation.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53323" y="5065795"/>
            <a:ext cx="54900" cy="54900"/>
          </a:xfrm>
          <a:prstGeom prst="ellipse">
            <a:avLst/>
          </a:prstGeom>
          <a:solidFill>
            <a:srgbClr val="F5D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Youssef Farid Ramzy Haddad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Presented to Information Technology Institute (ITI)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WHAT WE'LL COVER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2920" y="1600200"/>
            <a:ext cx="5257800" cy="896112"/>
          </a:xfrm>
          <a:prstGeom prst="roundRect">
            <a:avLst>
              <a:gd fmla="val 8163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67512" y="1764792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ip_990011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071" y="1892351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667512" y="161848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399032" y="1600200"/>
            <a:ext cx="42062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Project Goal &amp; Requirements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02920" y="2679192"/>
            <a:ext cx="5257800" cy="896112"/>
          </a:xfrm>
          <a:prstGeom prst="roundRect">
            <a:avLst>
              <a:gd fmla="val 8163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67512" y="2843784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robot_990011.png"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071" y="2971343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667512" y="269748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399032" y="2679192"/>
            <a:ext cx="42062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Solution Overview &amp; Features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02920" y="3758184"/>
            <a:ext cx="5257800" cy="896112"/>
          </a:xfrm>
          <a:prstGeom prst="roundRect">
            <a:avLst>
              <a:gd fmla="val 8163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67512" y="3922776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iagram_990011.png"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071" y="4050335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667512" y="377647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399032" y="3758184"/>
            <a:ext cx="42062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02920" y="4837176"/>
            <a:ext cx="5257800" cy="896112"/>
          </a:xfrm>
          <a:prstGeom prst="roundRect">
            <a:avLst>
              <a:gd fmla="val 8163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67512" y="500176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ogs_990011.png" id="51" name="Google Shape;5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5071" y="5129327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667512" y="4855464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399032" y="4837176"/>
            <a:ext cx="42062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217920" y="1600200"/>
            <a:ext cx="5257800" cy="896112"/>
          </a:xfrm>
          <a:prstGeom prst="roundRect">
            <a:avLst>
              <a:gd fmla="val 8163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382512" y="1764792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file_990011.png" id="56" name="Google Shape;5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10071" y="1892351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6382512" y="161848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114032" y="1600200"/>
            <a:ext cx="42062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Knowledge Base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217920" y="2679192"/>
            <a:ext cx="5257800" cy="896112"/>
          </a:xfrm>
          <a:prstGeom prst="roundRect">
            <a:avLst>
              <a:gd fmla="val 8163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382512" y="2843784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rain_990011.png" id="61" name="Google Shape;61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0071" y="2971343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6382512" y="269748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114032" y="2679192"/>
            <a:ext cx="42062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RAG Pipeline: Load → Chunk → Embed → Store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217920" y="3758184"/>
            <a:ext cx="5257800" cy="896112"/>
          </a:xfrm>
          <a:prstGeom prst="roundRect">
            <a:avLst>
              <a:gd fmla="val 8163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382512" y="3922776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rver_990011.png" id="66" name="Google Shape;66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10071" y="4050335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6382512" y="377647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114032" y="3758184"/>
            <a:ext cx="42062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Retrieval, Generation, Backend &amp; Frontend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217920" y="4837176"/>
            <a:ext cx="5257800" cy="896112"/>
          </a:xfrm>
          <a:prstGeom prst="roundRect">
            <a:avLst>
              <a:gd fmla="val 8163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6382512" y="500176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990011.png" id="71" name="Google Shape;71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10071" y="5129327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6382512" y="4855464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114032" y="4837176"/>
            <a:ext cx="42062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Live Demo, API, Evaluation &amp; Future Work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ITI GRADUATION PROJECT BRIEF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Project Goal &amp; Requirements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02920" y="1554480"/>
            <a:ext cx="5074920" cy="4617720"/>
          </a:xfrm>
          <a:prstGeom prst="roundRect">
            <a:avLst>
              <a:gd fmla="val 1584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ullseye_990011.png" id="85" name="Google Shape;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846" y="2059686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868680" y="2834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THE GOAL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68680" y="3154680"/>
            <a:ext cx="4343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0" i="1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“Build a complete AI product — from raw documents to a working RAG web application — and publish it on GitHub.”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68680" y="502920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Track: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Track — text-based RAG assistant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68680" y="544068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Mode: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Individual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897880" y="1600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DELIVERABLES REQUIRED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897880" y="2066544"/>
            <a:ext cx="502920" cy="502920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990011.png" id="92" name="Google Shape;9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1037" y="2179701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6583680" y="2011680"/>
            <a:ext cx="51663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Notebook: clean, chunk, embed &amp; store data, then build and evaluate a RAG pipeline with a local Ollama LLM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897880" y="3182112"/>
            <a:ext cx="502920" cy="502920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990011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1037" y="3295269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6583680" y="3127248"/>
            <a:ext cx="51663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FastAPI backend that serves the RAG pipeline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897880" y="4297680"/>
            <a:ext cx="502920" cy="502920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990011.png" id="98" name="Google Shape;9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1037" y="441083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6583680" y="4242816"/>
            <a:ext cx="51663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Frontend (Streamlit) showing a grounded, cited answer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897880" y="5413248"/>
            <a:ext cx="502920" cy="502920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990011.png" id="101" name="Google Shape;10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1037" y="5526405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6583680" y="5358384"/>
            <a:ext cx="51663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Everything published to GitHub with a professional README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WHAT WAS BUILT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Solution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02920" y="1481328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A local RAG assistant that answers technical hardware questions for three platforms using official documentation — grounded entirely in retrieved content, never the model’s general knowledge.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02920" y="2331720"/>
            <a:ext cx="2624328" cy="1691640"/>
          </a:xfrm>
          <a:prstGeom prst="roundRect">
            <a:avLst>
              <a:gd fmla="val 432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1449324" y="258775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file_990011.png"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3916" y="275234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640080" y="3383280"/>
            <a:ext cx="2350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Multi-document knowledge 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264408" y="2331720"/>
            <a:ext cx="2624328" cy="1691640"/>
          </a:xfrm>
          <a:prstGeom prst="roundRect">
            <a:avLst>
              <a:gd fmla="val 432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210812" y="258775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arch_990011.png"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5404" y="275234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3401568" y="3383280"/>
            <a:ext cx="2350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Semantic vector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025896" y="2331720"/>
            <a:ext cx="2624328" cy="1691640"/>
          </a:xfrm>
          <a:prstGeom prst="roundRect">
            <a:avLst>
              <a:gd fmla="val 432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972300" y="258775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rain_990011.png" id="123" name="Google Shape;12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6892" y="275234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6163056" y="3383280"/>
            <a:ext cx="2350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Local LLM via Ollama (Qwen 3 8B)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787384" y="2331720"/>
            <a:ext cx="2624328" cy="1691640"/>
          </a:xfrm>
          <a:prstGeom prst="roundRect">
            <a:avLst>
              <a:gd fmla="val 432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9733788" y="258775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_990011.png" id="127" name="Google Shape;12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98380" y="275234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8924544" y="3383280"/>
            <a:ext cx="2350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Persistent Chroma vector 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02920" y="4206240"/>
            <a:ext cx="2624328" cy="1691640"/>
          </a:xfrm>
          <a:prstGeom prst="roundRect">
            <a:avLst>
              <a:gd fmla="val 432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1449324" y="446227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990011.png" id="131" name="Google Shape;13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13916" y="462686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/>
          <p:nvPr/>
        </p:nvSpPr>
        <p:spPr>
          <a:xfrm>
            <a:off x="640080" y="5257800"/>
            <a:ext cx="2350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Source-aware, cited answers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264408" y="4206240"/>
            <a:ext cx="2624328" cy="1691640"/>
          </a:xfrm>
          <a:prstGeom prst="roundRect">
            <a:avLst>
              <a:gd fmla="val 432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210812" y="446227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hield_990011.png" id="135" name="Google Shape;13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75404" y="462686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3401568" y="5257800"/>
            <a:ext cx="2350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Grounding to reduce hallucination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025896" y="4206240"/>
            <a:ext cx="2624328" cy="1691640"/>
          </a:xfrm>
          <a:prstGeom prst="roundRect">
            <a:avLst>
              <a:gd fmla="val 432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6972300" y="446227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rver_990011.png" id="139" name="Google Shape;139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36892" y="462686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6163056" y="5257800"/>
            <a:ext cx="2350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FastAPI backend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8787384" y="4206240"/>
            <a:ext cx="2624328" cy="1691640"/>
          </a:xfrm>
          <a:prstGeom prst="roundRect">
            <a:avLst>
              <a:gd fmla="val 432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9733788" y="446227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omments_990011.png" id="143" name="Google Shape;143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98380" y="462686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/>
          <p:nvPr/>
        </p:nvSpPr>
        <p:spPr>
          <a:xfrm>
            <a:off x="8924544" y="5257800"/>
            <a:ext cx="2350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Streamlit chat interface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END-TO-END DATA &amp; QUERY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System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02920" y="149047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OFFLINE INDEXING · NOTEBOOK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02920" y="1783080"/>
            <a:ext cx="2468880" cy="1188720"/>
          </a:xfrm>
          <a:prstGeom prst="roundRect">
            <a:avLst>
              <a:gd fmla="val 615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649224" y="192938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file_990011.png" id="157" name="Google Shape;1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438" y="204459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>
            <a:off x="649224" y="2496312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Technical PDFs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49224" y="2743200"/>
            <a:ext cx="21762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Arduino · Pico · Ender-3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2953512" y="210312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300984" y="1783080"/>
            <a:ext cx="2468880" cy="1188720"/>
          </a:xfrm>
          <a:prstGeom prst="roundRect">
            <a:avLst>
              <a:gd fmla="val 615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3447288" y="192938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yers_990011.png" id="163" name="Google Shape;1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2502" y="204459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/>
          <p:nvPr/>
        </p:nvSpPr>
        <p:spPr>
          <a:xfrm>
            <a:off x="3447288" y="2496312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Parse &amp; Chunk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447288" y="2743200"/>
            <a:ext cx="21762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1000 / 200 overlap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751576" y="210312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099048" y="1783080"/>
            <a:ext cx="2468880" cy="1188720"/>
          </a:xfrm>
          <a:prstGeom prst="roundRect">
            <a:avLst>
              <a:gd fmla="val 615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245352" y="192938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iagram_990011.png" id="169" name="Google Shape;16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0566" y="204459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/>
          <p:nvPr/>
        </p:nvSpPr>
        <p:spPr>
          <a:xfrm>
            <a:off x="6245352" y="2496312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245352" y="2743200"/>
            <a:ext cx="21762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all-MiniLM-L6-v2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8549640" y="210312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8897112" y="1783080"/>
            <a:ext cx="2468880" cy="1188720"/>
          </a:xfrm>
          <a:prstGeom prst="roundRect">
            <a:avLst>
              <a:gd fmla="val 615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9043416" y="192938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_990011.png" id="175" name="Google Shape;17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58630" y="204459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/>
          <p:nvPr/>
        </p:nvSpPr>
        <p:spPr>
          <a:xfrm>
            <a:off x="9043416" y="2496312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Chroma Vector Store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9043416" y="2743200"/>
            <a:ext cx="21762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Persisted to disk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5"/>
          <p:cNvCxnSpPr/>
          <p:nvPr/>
        </p:nvCxnSpPr>
        <p:spPr>
          <a:xfrm flipH="1">
            <a:off x="7333488" y="2971800"/>
            <a:ext cx="2180844" cy="1280160"/>
          </a:xfrm>
          <a:prstGeom prst="straightConnector1">
            <a:avLst/>
          </a:prstGeom>
          <a:noFill/>
          <a:ln cap="flat" cmpd="sng" w="22225">
            <a:solidFill>
              <a:srgbClr val="C21F3A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79" name="Google Shape;179;p5"/>
          <p:cNvSpPr/>
          <p:nvPr/>
        </p:nvSpPr>
        <p:spPr>
          <a:xfrm>
            <a:off x="502920" y="39593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ONLINE QUERY · FASTAPI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02920" y="4251960"/>
            <a:ext cx="2468880" cy="1188720"/>
          </a:xfrm>
          <a:prstGeom prst="roundRect">
            <a:avLst>
              <a:gd fmla="val 615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649224" y="439826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omments_990011.png" id="182" name="Google Shape;18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4438" y="451347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/>
          <p:nvPr/>
        </p:nvSpPr>
        <p:spPr>
          <a:xfrm>
            <a:off x="649224" y="4965192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User Question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49224" y="5212080"/>
            <a:ext cx="21762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Streamlit frontend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2953512" y="457200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3300984" y="4251960"/>
            <a:ext cx="2468880" cy="1188720"/>
          </a:xfrm>
          <a:prstGeom prst="roundRect">
            <a:avLst>
              <a:gd fmla="val 615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3447288" y="439826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rver_990011.png" id="188" name="Google Shape;18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62502" y="451347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5"/>
          <p:cNvSpPr/>
          <p:nvPr/>
        </p:nvSpPr>
        <p:spPr>
          <a:xfrm>
            <a:off x="3447288" y="4965192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FastAPI /query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447288" y="5212080"/>
            <a:ext cx="21762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Loaded once at startup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751576" y="457200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099048" y="4251960"/>
            <a:ext cx="2468880" cy="1188720"/>
          </a:xfrm>
          <a:prstGeom prst="roundRect">
            <a:avLst>
              <a:gd fmla="val 615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6245352" y="439826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arch_990011.png" id="194" name="Google Shape;19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60566" y="451347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"/>
          <p:cNvSpPr/>
          <p:nvPr/>
        </p:nvSpPr>
        <p:spPr>
          <a:xfrm>
            <a:off x="6245352" y="4965192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Retrieve Top-8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6245352" y="5212080"/>
            <a:ext cx="21762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Semantic similarity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8549640" y="457200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8897112" y="4251960"/>
            <a:ext cx="2468880" cy="1188720"/>
          </a:xfrm>
          <a:prstGeom prst="roundRect">
            <a:avLst>
              <a:gd fmla="val 615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9043416" y="439826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rain_990011.png" id="200" name="Google Shape;200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58630" y="451347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5"/>
          <p:cNvSpPr/>
          <p:nvPr/>
        </p:nvSpPr>
        <p:spPr>
          <a:xfrm>
            <a:off x="9043416" y="4965192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Qwen 3 8B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9043416" y="5212080"/>
            <a:ext cx="21762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Local via Ollama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5"/>
          <p:cNvCxnSpPr/>
          <p:nvPr/>
        </p:nvCxnSpPr>
        <p:spPr>
          <a:xfrm>
            <a:off x="10131552" y="544068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9900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" name="Google Shape;204;p5"/>
          <p:cNvSpPr/>
          <p:nvPr/>
        </p:nvSpPr>
        <p:spPr>
          <a:xfrm>
            <a:off x="3566160" y="5733288"/>
            <a:ext cx="7799832" cy="621792"/>
          </a:xfrm>
          <a:prstGeom prst="roundRect">
            <a:avLst>
              <a:gd fmla="val 11765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3730752" y="581558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990011.png" id="206" name="Google Shape;206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33622" y="5918454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"/>
          <p:cNvSpPr/>
          <p:nvPr/>
        </p:nvSpPr>
        <p:spPr>
          <a:xfrm>
            <a:off x="4315968" y="5733288"/>
            <a:ext cx="6903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Grounded Answer + Sources  →  displayed in the Streamlit chat interface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TOOLS POWERING THE ASSISTANT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6"/>
          <p:cNvGraphicFramePr/>
          <p:nvPr/>
        </p:nvGraphicFramePr>
        <p:xfrm>
          <a:off x="50292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{17B28892-6D8C-42C1-8BD6-BB0C6B6D29F7}</a:tableStyleId>
              </a:tblPr>
              <a:tblGrid>
                <a:gridCol w="2331725"/>
                <a:gridCol w="301752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sz="140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sz="140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1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Programming Language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Python 3.10+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LLM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Qwen 3 8B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LLM Runtime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Ollama (local)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Embeddings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all-MiniLM-L6-v2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Vector Database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ChromaDB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PDF Processing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pypdf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8" name="Google Shape;218;p6"/>
          <p:cNvGraphicFramePr/>
          <p:nvPr/>
        </p:nvGraphicFramePr>
        <p:xfrm>
          <a:off x="612648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{17B28892-6D8C-42C1-8BD6-BB0C6B6D29F7}</a:tableStyleId>
              </a:tblPr>
              <a:tblGrid>
                <a:gridCol w="2331725"/>
                <a:gridCol w="301752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sz="140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sz="140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1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Text Splitting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LangChain Recursive Character Splitter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Backend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FastAPI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Frontend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Streamlit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HTTP Client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Requests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Configuration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python-dotenv / Pydantic Settings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Testing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71C1D"/>
                          </a:solidFill>
                        </a:rPr>
                        <a:t>Pytest + HTTPX</a:t>
                      </a:r>
                      <a:endParaRPr sz="1350" u="none" cap="none" strike="noStrike"/>
                    </a:p>
                  </a:txBody>
                  <a:tcPr marT="38100" marB="381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THREE HARDWARE PLATFORMS INDEXED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Knowledge Base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02920" y="1600200"/>
            <a:ext cx="3520440" cy="4434840"/>
          </a:xfrm>
          <a:prstGeom prst="roundRect">
            <a:avLst>
              <a:gd fmla="val 2078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502920" y="160020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1828800" y="1892808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ip_990011.png" id="231" name="Google Shape;2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253" y="2088261"/>
            <a:ext cx="477774" cy="47777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"/>
          <p:cNvSpPr/>
          <p:nvPr/>
        </p:nvSpPr>
        <p:spPr>
          <a:xfrm>
            <a:off x="640080" y="306324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Arduino Uno Rev3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22960" y="3758184"/>
            <a:ext cx="219456" cy="21945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234" name="Google Shape;23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851" y="3802075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7"/>
          <p:cNvSpPr/>
          <p:nvPr/>
        </p:nvSpPr>
        <p:spPr>
          <a:xfrm>
            <a:off x="1143000" y="365760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Pin definitions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822960" y="4288536"/>
            <a:ext cx="219456" cy="21945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237" name="Google Shape;23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851" y="4332427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7"/>
          <p:cNvSpPr/>
          <p:nvPr/>
        </p:nvSpPr>
        <p:spPr>
          <a:xfrm>
            <a:off x="1143000" y="4187952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Operating voltage &amp; memory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822960" y="4818888"/>
            <a:ext cx="219456" cy="21945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240" name="Google Shape;2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851" y="4862779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7"/>
          <p:cNvSpPr/>
          <p:nvPr/>
        </p:nvSpPr>
        <p:spPr>
          <a:xfrm>
            <a:off x="1143000" y="4718304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Analog &amp; digital pins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822960" y="5349240"/>
            <a:ext cx="219456" cy="21945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243" name="Google Shape;24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851" y="5393131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7"/>
          <p:cNvSpPr/>
          <p:nvPr/>
        </p:nvSpPr>
        <p:spPr>
          <a:xfrm>
            <a:off x="1143000" y="5248656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Interfaces &amp; 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206240" y="1600200"/>
            <a:ext cx="3520440" cy="4434840"/>
          </a:xfrm>
          <a:prstGeom prst="roundRect">
            <a:avLst>
              <a:gd fmla="val 2078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4206240" y="160020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5532120" y="1892808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raspberrypi_990011.png" id="248" name="Google Shape;24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7573" y="2088261"/>
            <a:ext cx="477774" cy="47777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7"/>
          <p:cNvSpPr/>
          <p:nvPr/>
        </p:nvSpPr>
        <p:spPr>
          <a:xfrm>
            <a:off x="4343400" y="306324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Raspberry Pi Pico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526280" y="3758184"/>
            <a:ext cx="219456" cy="21945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251" name="Google Shape;2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0171" y="3802075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7"/>
          <p:cNvSpPr/>
          <p:nvPr/>
        </p:nvSpPr>
        <p:spPr>
          <a:xfrm>
            <a:off x="4846320" y="365760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GPIO &amp; I2C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4526280" y="4288536"/>
            <a:ext cx="219456" cy="21945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254" name="Google Shape;2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0171" y="4332427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/>
          <p:nvPr/>
        </p:nvSpPr>
        <p:spPr>
          <a:xfrm>
            <a:off x="4846320" y="4187952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USB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526280" y="4818888"/>
            <a:ext cx="219456" cy="21945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257" name="Google Shape;25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0171" y="4862779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7"/>
          <p:cNvSpPr/>
          <p:nvPr/>
        </p:nvSpPr>
        <p:spPr>
          <a:xfrm>
            <a:off x="4846320" y="4718304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Python / MicroPython usage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526280" y="5349240"/>
            <a:ext cx="219456" cy="21945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260" name="Google Shape;2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0171" y="5393131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7"/>
          <p:cNvSpPr/>
          <p:nvPr/>
        </p:nvSpPr>
        <p:spPr>
          <a:xfrm>
            <a:off x="4846320" y="5248656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Board-level specifications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7909560" y="1600200"/>
            <a:ext cx="3520440" cy="4434840"/>
          </a:xfrm>
          <a:prstGeom prst="roundRect">
            <a:avLst>
              <a:gd fmla="val 2078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7909560" y="160020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9235440" y="1892808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printer_990011.png" id="265" name="Google Shape;26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30893" y="2088261"/>
            <a:ext cx="477774" cy="47777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/>
          <p:nvPr/>
        </p:nvSpPr>
        <p:spPr>
          <a:xfrm>
            <a:off x="8046720" y="306324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Creality Ender-3 S1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8229600" y="3758184"/>
            <a:ext cx="219456" cy="21945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268" name="Google Shape;2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3491" y="3802075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7"/>
          <p:cNvSpPr/>
          <p:nvPr/>
        </p:nvSpPr>
        <p:spPr>
          <a:xfrm>
            <a:off x="8549640" y="365760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Assembly &amp; wiring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8229600" y="4288536"/>
            <a:ext cx="219456" cy="21945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271" name="Google Shape;2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3491" y="4332427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/>
          <p:nvPr/>
        </p:nvSpPr>
        <p:spPr>
          <a:xfrm>
            <a:off x="8549640" y="4187952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Auto leveling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8229600" y="4818888"/>
            <a:ext cx="219456" cy="21945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274" name="Google Shape;27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3491" y="4862779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/>
          <p:nvPr/>
        </p:nvSpPr>
        <p:spPr>
          <a:xfrm>
            <a:off x="8549640" y="4718304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Filament loading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8229600" y="5349240"/>
            <a:ext cx="219456" cy="21945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277" name="Google Shape;27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3491" y="5393131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7"/>
          <p:cNvSpPr/>
          <p:nvPr/>
        </p:nvSpPr>
        <p:spPr>
          <a:xfrm>
            <a:off x="8549640" y="5248656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Troubleshooting &amp; operation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NOTEBOOK PHASE 2: LOAD, CHUNK, EMBED, STORE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Data Pipeline —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02920" y="1645920"/>
            <a:ext cx="2624328" cy="4297680"/>
          </a:xfrm>
          <a:prstGeom prst="roundRect">
            <a:avLst>
              <a:gd fmla="val 2787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502920" y="1645920"/>
            <a:ext cx="2624328" cy="4297680"/>
          </a:xfrm>
          <a:prstGeom prst="roundRect">
            <a:avLst>
              <a:gd fmla="val 2787" name="adj"/>
            </a:avLst>
          </a:prstGeom>
          <a:noFill/>
          <a:ln cap="flat" cmpd="sng" w="15875">
            <a:solidFill>
              <a:srgbClr val="F5D3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685800" y="18288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5D3D7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1426464" y="2560320"/>
            <a:ext cx="777240" cy="77724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file_FFFFFF.png" id="292" name="Google Shape;2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3002" y="274685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"/>
          <p:cNvSpPr/>
          <p:nvPr/>
        </p:nvSpPr>
        <p:spPr>
          <a:xfrm>
            <a:off x="640080" y="3611880"/>
            <a:ext cx="2350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Load &amp; Inspect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731520" y="4069080"/>
            <a:ext cx="21671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3 PDFs parsed with pypdf into 91 text-extractable pages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2990088" y="3520440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3264408" y="1645920"/>
            <a:ext cx="2624328" cy="4297680"/>
          </a:xfrm>
          <a:prstGeom prst="roundRect">
            <a:avLst>
              <a:gd fmla="val 278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3264408" y="1645920"/>
            <a:ext cx="2624328" cy="4297680"/>
          </a:xfrm>
          <a:prstGeom prst="roundRect">
            <a:avLst>
              <a:gd fmla="val 2787" name="adj"/>
            </a:avLst>
          </a:prstGeom>
          <a:noFill/>
          <a:ln cap="flat" cmpd="sng" w="15875">
            <a:solidFill>
              <a:srgbClr val="F5D3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3447288" y="18288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5D3D7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4187952" y="2560320"/>
            <a:ext cx="777240" cy="77724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yers_FFFFFF.png" id="300" name="Google Shape;30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4490" y="274685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8"/>
          <p:cNvSpPr/>
          <p:nvPr/>
        </p:nvSpPr>
        <p:spPr>
          <a:xfrm>
            <a:off x="3401568" y="3611880"/>
            <a:ext cx="2350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Chunking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3493008" y="4069080"/>
            <a:ext cx="21671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Recursive character splitter — 1000 chars, 200 overlap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751576" y="3520440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6025896" y="1645920"/>
            <a:ext cx="2624328" cy="4297680"/>
          </a:xfrm>
          <a:prstGeom prst="roundRect">
            <a:avLst>
              <a:gd fmla="val 2787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6025896" y="1645920"/>
            <a:ext cx="2624328" cy="4297680"/>
          </a:xfrm>
          <a:prstGeom prst="roundRect">
            <a:avLst>
              <a:gd fmla="val 2787" name="adj"/>
            </a:avLst>
          </a:prstGeom>
          <a:noFill/>
          <a:ln cap="flat" cmpd="sng" w="15875">
            <a:solidFill>
              <a:srgbClr val="F5D3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6208776" y="18288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5D3D7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949440" y="2560320"/>
            <a:ext cx="777240" cy="77724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iagram_FFFFFF.png" id="308" name="Google Shape;30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5978" y="274685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8"/>
          <p:cNvSpPr/>
          <p:nvPr/>
        </p:nvSpPr>
        <p:spPr>
          <a:xfrm>
            <a:off x="6163056" y="3611880"/>
            <a:ext cx="2350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6254496" y="4069080"/>
            <a:ext cx="21671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Each chunk vectorized with all-MiniLM-L6-v2 (384-dim)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8513064" y="3520440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8787384" y="1645920"/>
            <a:ext cx="2624328" cy="4297680"/>
          </a:xfrm>
          <a:prstGeom prst="roundRect">
            <a:avLst>
              <a:gd fmla="val 278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8787384" y="1645920"/>
            <a:ext cx="2624328" cy="4297680"/>
          </a:xfrm>
          <a:prstGeom prst="roundRect">
            <a:avLst>
              <a:gd fmla="val 2787" name="adj"/>
            </a:avLst>
          </a:prstGeom>
          <a:noFill/>
          <a:ln cap="flat" cmpd="sng" w="15875">
            <a:solidFill>
              <a:srgbClr val="F5D3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8970264" y="18288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5D3D7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9710928" y="2560320"/>
            <a:ext cx="777240" cy="77724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_FFFFFF.png" id="316" name="Google Shape;31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97466" y="274685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8"/>
          <p:cNvSpPr/>
          <p:nvPr/>
        </p:nvSpPr>
        <p:spPr>
          <a:xfrm>
            <a:off x="8924544" y="3611880"/>
            <a:ext cx="2350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9015984" y="4069080"/>
            <a:ext cx="21671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189 chunks persisted to ChromaDB on disk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502920" y="6080760"/>
            <a:ext cx="10744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The next three slides walk through each stage in detail, straight from the pipeline notebook.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NOTEBOOK PHASE 2.1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Load &amp; Inspect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502920" y="1554480"/>
            <a:ext cx="3611880" cy="566928"/>
          </a:xfrm>
          <a:prstGeom prst="roundRect">
            <a:avLst>
              <a:gd fmla="val 12903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594360" y="163677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ip_990011.png" id="331" name="Google Shape;3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886" y="1727302"/>
            <a:ext cx="221285" cy="22128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9"/>
          <p:cNvSpPr/>
          <p:nvPr/>
        </p:nvSpPr>
        <p:spPr>
          <a:xfrm>
            <a:off x="1088136" y="155448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271C1D"/>
                </a:solidFill>
                <a:latin typeface="Courier New"/>
                <a:ea typeface="Courier New"/>
                <a:cs typeface="Courier New"/>
                <a:sym typeface="Courier New"/>
              </a:rPr>
              <a:t>arduino_uno.pdf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251960" y="1554480"/>
            <a:ext cx="3611880" cy="566928"/>
          </a:xfrm>
          <a:prstGeom prst="roundRect">
            <a:avLst>
              <a:gd fmla="val 12903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4343400" y="163677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raspberrypi_990011.png" id="335" name="Google Shape;33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3926" y="1727302"/>
            <a:ext cx="221285" cy="22128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9"/>
          <p:cNvSpPr/>
          <p:nvPr/>
        </p:nvSpPr>
        <p:spPr>
          <a:xfrm>
            <a:off x="4837176" y="155448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271C1D"/>
                </a:solidFill>
                <a:latin typeface="Courier New"/>
                <a:ea typeface="Courier New"/>
                <a:cs typeface="Courier New"/>
                <a:sym typeface="Courier New"/>
              </a:rPr>
              <a:t>raspberry_pi_pico.pdf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8001000" y="1554480"/>
            <a:ext cx="3611880" cy="566928"/>
          </a:xfrm>
          <a:prstGeom prst="roundRect">
            <a:avLst>
              <a:gd fmla="val 12903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8092440" y="163677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printer_990011.png" id="339" name="Google Shape;33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2966" y="1727302"/>
            <a:ext cx="221285" cy="22128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9"/>
          <p:cNvSpPr/>
          <p:nvPr/>
        </p:nvSpPr>
        <p:spPr>
          <a:xfrm>
            <a:off x="8586216" y="155448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271C1D"/>
                </a:solidFill>
                <a:latin typeface="Courier New"/>
                <a:ea typeface="Courier New"/>
                <a:cs typeface="Courier New"/>
                <a:sym typeface="Courier New"/>
              </a:rPr>
              <a:t>ender3_s1.pdf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502920" y="2331720"/>
            <a:ext cx="5394960" cy="1051560"/>
          </a:xfrm>
          <a:prstGeom prst="roundRect">
            <a:avLst>
              <a:gd fmla="val 6957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731520" y="2331720"/>
            <a:ext cx="1828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91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2468880" y="2331720"/>
            <a:ext cx="3291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Text-Extractable Pages Loaded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6035040" y="2331720"/>
            <a:ext cx="5394960" cy="1051560"/>
          </a:xfrm>
          <a:prstGeom prst="roundRect">
            <a:avLst>
              <a:gd fmla="val 6957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6263640" y="2331720"/>
            <a:ext cx="1828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 / 3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8001000" y="2331720"/>
            <a:ext cx="3291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PDFs Parsed Successfully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502920" y="3611880"/>
            <a:ext cx="5394960" cy="1280160"/>
          </a:xfrm>
          <a:prstGeom prst="roundRect">
            <a:avLst>
              <a:gd fmla="val 571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667512" y="377647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file_990011.png" id="349" name="Google Shape;34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0669" y="3889629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9"/>
          <p:cNvSpPr/>
          <p:nvPr/>
        </p:nvSpPr>
        <p:spPr>
          <a:xfrm>
            <a:off x="1325880" y="3730752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704088" y="4178808"/>
            <a:ext cx="499262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All three documents are digital PDF manuals with fully extractable text layers.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6035040" y="3611880"/>
            <a:ext cx="5394960" cy="1280160"/>
          </a:xfrm>
          <a:prstGeom prst="roundRect">
            <a:avLst>
              <a:gd fmla="val 571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6199632" y="377647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990011.png" id="354" name="Google Shape;35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2789" y="3889629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9"/>
          <p:cNvSpPr/>
          <p:nvPr/>
        </p:nvSpPr>
        <p:spPr>
          <a:xfrm>
            <a:off x="6858000" y="3730752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Parsing Status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6236208" y="4178808"/>
            <a:ext cx="499262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All 3 PDFs parsed successfully via pypdf; a minor object-reference warning appeared but did not block extraction.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502920" y="5029200"/>
            <a:ext cx="5394960" cy="1280160"/>
          </a:xfrm>
          <a:prstGeom prst="roundRect">
            <a:avLst>
              <a:gd fmla="val 571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667512" y="51937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hield_990011.png" id="359" name="Google Shape;359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0669" y="5306949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9"/>
          <p:cNvSpPr/>
          <p:nvPr/>
        </p:nvSpPr>
        <p:spPr>
          <a:xfrm>
            <a:off x="1325880" y="5148072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OCR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704088" y="5596128"/>
            <a:ext cx="499262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Not required — every document already contains an extractable text layer, so no scanned-page handling was needed.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6035040" y="5029200"/>
            <a:ext cx="5394960" cy="1280160"/>
          </a:xfrm>
          <a:prstGeom prst="roundRect">
            <a:avLst>
              <a:gd fmla="val 571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6199632" y="51937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yers_990011.png" id="364" name="Google Shape;364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12789" y="5306949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9"/>
          <p:cNvSpPr/>
          <p:nvPr/>
        </p:nvSpPr>
        <p:spPr>
          <a:xfrm>
            <a:off x="6858000" y="5148072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Metadata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6236208" y="5596128"/>
            <a:ext cx="499262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Each page is stored with its source filename and page number, so retrieved chunks trace back to their original source.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NOTEBOOK PHASE 2.2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Chunking Strategy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502920" y="1554480"/>
            <a:ext cx="10744200" cy="960120"/>
          </a:xfrm>
          <a:prstGeom prst="roundRect">
            <a:avLst>
              <a:gd fmla="val 7619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777240" y="1554480"/>
            <a:ext cx="101955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Strategy used: </a:t>
            </a:r>
            <a:r>
              <a:rPr b="0" i="0" lang="en-US" sz="13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RecursiveCharacterTextSplitter (LangChain) — splits at natural boundaries such as paragraphs, lines, and words, keeping related technical explanations and procedures together rather than cutting mid-sentence.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502920" y="2743200"/>
            <a:ext cx="525780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502920" y="2743200"/>
            <a:ext cx="5257800" cy="2148840"/>
          </a:xfrm>
          <a:prstGeom prst="roundRect">
            <a:avLst>
              <a:gd fmla="val 3404" name="adj"/>
            </a:avLst>
          </a:prstGeom>
          <a:noFill/>
          <a:ln cap="flat" cmpd="sng" w="15875">
            <a:solidFill>
              <a:srgbClr val="F5D3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777240" y="3017520"/>
            <a:ext cx="777240" cy="77724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yers_FFFFFF.png" id="381" name="Google Shape;3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321183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0"/>
          <p:cNvSpPr/>
          <p:nvPr/>
        </p:nvSpPr>
        <p:spPr>
          <a:xfrm>
            <a:off x="1737360" y="3035808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Chunk Size — 1000 characters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777240" y="393192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Large enough to keep a full pinout, specification, or troubleshooting procedure together, while staying focused on a single topic.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5943600" y="2743200"/>
            <a:ext cx="525780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5943600" y="2743200"/>
            <a:ext cx="5257800" cy="2148840"/>
          </a:xfrm>
          <a:prstGeom prst="roundRect">
            <a:avLst>
              <a:gd fmla="val 3404" name="adj"/>
            </a:avLst>
          </a:prstGeom>
          <a:noFill/>
          <a:ln cap="flat" cmpd="sng" w="15875">
            <a:solidFill>
              <a:srgbClr val="F5D3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6217920" y="3017520"/>
            <a:ext cx="777240" cy="77724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iagram_FFFFFF.png" id="387" name="Google Shape;38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2230" y="321183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0"/>
          <p:cNvSpPr/>
          <p:nvPr/>
        </p:nvSpPr>
        <p:spPr>
          <a:xfrm>
            <a:off x="7178040" y="3035808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Overlap — 200 characters (20%)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6217920" y="393192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Preserves context across chunk boundaries, reducing the chance an important sentence is separated from its surrounding explanation.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502920" y="5120640"/>
            <a:ext cx="10744200" cy="1051560"/>
          </a:xfrm>
          <a:prstGeom prst="roundRect">
            <a:avLst>
              <a:gd fmla="val 6957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777240" y="5330952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990011.png" id="392" name="Google Shape;39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1258" y="5474970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0"/>
          <p:cNvSpPr/>
          <p:nvPr/>
        </p:nvSpPr>
        <p:spPr>
          <a:xfrm>
            <a:off x="1691640" y="5120640"/>
            <a:ext cx="5486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91 Pages</a:t>
            </a:r>
            <a:r>
              <a:rPr b="1" i="0" lang="en-US" sz="2000" u="none" cap="none" strike="noStrike">
                <a:solidFill>
                  <a:srgbClr val="F5D3D7"/>
                </a:solidFill>
                <a:latin typeface="Cambria"/>
                <a:ea typeface="Cambria"/>
                <a:cs typeface="Cambria"/>
                <a:sym typeface="Cambria"/>
              </a:rPr>
              <a:t>  → 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189 Chunks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5486400" y="5120640"/>
            <a:ext cx="5577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Chunks are persisted with source &amp; page metadata for full traceability.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NOTEBOOK PHASE 2.3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Embeddings &amp; Vector Store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502920" y="1600200"/>
            <a:ext cx="5257800" cy="2148840"/>
          </a:xfrm>
          <a:prstGeom prst="roundRect">
            <a:avLst>
              <a:gd fmla="val 340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777240" y="1856232"/>
            <a:ext cx="777240" cy="77724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iagram_FFFFFF.png" id="406" name="Google Shape;4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2050542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1"/>
          <p:cNvSpPr/>
          <p:nvPr/>
        </p:nvSpPr>
        <p:spPr>
          <a:xfrm>
            <a:off x="1737360" y="18745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Embedding 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1737360" y="231343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71C1D"/>
                </a:solidFill>
                <a:latin typeface="Courier New"/>
                <a:ea typeface="Courier New"/>
                <a:cs typeface="Courier New"/>
                <a:sym typeface="Courier New"/>
              </a:rPr>
              <a:t>sentence-transformers/all-MiniLM-L6-v2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777240" y="274320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• Maps chunks into 384-dimensional dense vectors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• Captures semantic relationships across technical descriptions, pinouts &amp; specifications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5943600" y="1600200"/>
            <a:ext cx="5257800" cy="2148840"/>
          </a:xfrm>
          <a:prstGeom prst="roundRect">
            <a:avLst>
              <a:gd fmla="val 3404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6217920" y="1856232"/>
            <a:ext cx="777240" cy="77724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_FFFFFF.png" id="412" name="Google Shape;4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2230" y="2050542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1"/>
          <p:cNvSpPr/>
          <p:nvPr/>
        </p:nvSpPr>
        <p:spPr>
          <a:xfrm>
            <a:off x="7178040" y="18745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Vector Store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7178040" y="231343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71C1D"/>
                </a:solidFill>
                <a:latin typeface="Courier New"/>
                <a:ea typeface="Courier New"/>
                <a:cs typeface="Courier New"/>
                <a:sym typeface="Courier New"/>
              </a:rPr>
              <a:t>ChromaDB — PersistentClient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6217920" y="274320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• Data stored locally on disk, no re-indexing needed on backend startup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• Persists embeddings, chunk text &amp; metadata (source, page, chunk_id)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502920" y="3977640"/>
            <a:ext cx="5394960" cy="960120"/>
          </a:xfrm>
          <a:prstGeom prst="roundRect">
            <a:avLst>
              <a:gd fmla="val 7619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731520" y="3977640"/>
            <a:ext cx="1645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384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2286000" y="397764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Vector Dimensions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6035040" y="3977640"/>
            <a:ext cx="5394960" cy="960120"/>
          </a:xfrm>
          <a:prstGeom prst="roundRect">
            <a:avLst>
              <a:gd fmla="val 7619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6263640" y="3977640"/>
            <a:ext cx="1645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189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7818120" y="397764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Chunks Indexed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502920" y="5166360"/>
            <a:ext cx="10744200" cy="777240"/>
          </a:xfrm>
          <a:prstGeom prst="roundRect">
            <a:avLst>
              <a:gd fmla="val 9412" name="adj"/>
            </a:avLst>
          </a:prstGeom>
          <a:solidFill>
            <a:srgbClr val="1C0E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777240" y="5166360"/>
            <a:ext cx="10195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EB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C9AEB1"/>
                </a:solidFill>
                <a:latin typeface="Courier New"/>
                <a:ea typeface="Courier New"/>
                <a:cs typeface="Courier New"/>
                <a:sym typeface="Courier New"/>
              </a:rPr>
              <a:t>Persisted at: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backend/data/vector_store/chroma_db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2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TURNING A QUESTION INTO A GROUNDED ANSWER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Retrieval &amp; Generation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502920" y="1600200"/>
            <a:ext cx="5212080" cy="1874520"/>
          </a:xfrm>
          <a:prstGeom prst="roundRect">
            <a:avLst>
              <a:gd fmla="val 3902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777240" y="1828800"/>
            <a:ext cx="777240" cy="77724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arch_FFFFFF.png" id="435" name="Google Shape;4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20231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2"/>
          <p:cNvSpPr/>
          <p:nvPr/>
        </p:nvSpPr>
        <p:spPr>
          <a:xfrm>
            <a:off x="1691640" y="184708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Semantic Retrieval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1691640" y="2212848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The user’s question is embedded and compared against the Chroma vector store; the top 8 most relevant chunks are retrieved for context.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5989320" y="1600200"/>
            <a:ext cx="5257800" cy="1874520"/>
          </a:xfrm>
          <a:prstGeom prst="roundRect">
            <a:avLst>
              <a:gd fmla="val 3902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6263640" y="1828800"/>
            <a:ext cx="777240" cy="77724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rain_FFFFFF.png" id="440" name="Google Shape;44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7950" y="20231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2"/>
          <p:cNvSpPr/>
          <p:nvPr/>
        </p:nvSpPr>
        <p:spPr>
          <a:xfrm>
            <a:off x="7178040" y="184708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Grounded Generation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7178040" y="2212848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The retrieved context and question are combined into a prompt and sent to Qwen 3 8B, running locally through Ollama.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502920" y="3703320"/>
            <a:ext cx="10744200" cy="2331720"/>
          </a:xfrm>
          <a:prstGeom prst="roundRect">
            <a:avLst>
              <a:gd fmla="val 3137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822960" y="3886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PROMPT GROUNDING 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822960" y="42519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990011.png" id="446" name="Google Shape;44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5256" y="43342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2"/>
          <p:cNvSpPr/>
          <p:nvPr/>
        </p:nvSpPr>
        <p:spPr>
          <a:xfrm>
            <a:off x="1298448" y="4206240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the provided context as the source of truth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822960" y="47091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990011.png" id="449" name="Google Shape;44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5256" y="47914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2"/>
          <p:cNvSpPr/>
          <p:nvPr/>
        </p:nvSpPr>
        <p:spPr>
          <a:xfrm>
            <a:off x="1298448" y="4663440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Avoid unsupported claims beyond the retrieved chunks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822960" y="51663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990011.png" id="452" name="Google Shape;45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5256" y="52486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2"/>
          <p:cNvSpPr/>
          <p:nvPr/>
        </p:nvSpPr>
        <p:spPr>
          <a:xfrm>
            <a:off x="1298448" y="5120640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Always provide source document references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822960" y="5641848"/>
            <a:ext cx="9966960" cy="566928"/>
          </a:xfrm>
          <a:prstGeom prst="roundRect">
            <a:avLst>
              <a:gd fmla="val 9677" name="adj"/>
            </a:avLst>
          </a:prstGeom>
          <a:solidFill>
            <a:srgbClr val="5F0A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1005840" y="5641848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Refuses when unsupported: </a:t>
            </a: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“I don’t know based on the provided documents.”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3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SERVING THE RAG PIPELINE AS AN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Backend — FastAPI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502920" y="1600200"/>
            <a:ext cx="5029200" cy="4572000"/>
          </a:xfrm>
          <a:prstGeom prst="roundRect">
            <a:avLst>
              <a:gd fmla="val 1600" name="adj"/>
            </a:avLst>
          </a:prstGeom>
          <a:solidFill>
            <a:srgbClr val="1C0E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3"/>
          <p:cNvSpPr/>
          <p:nvPr/>
        </p:nvSpPr>
        <p:spPr>
          <a:xfrm>
            <a:off x="777240" y="17556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backend/  PROJECT 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777240" y="2084832"/>
            <a:ext cx="45720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backend/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app/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main.py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api/routes/query.py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core/config.py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schemas/query.py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services/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│   ├── retrieval.py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│   └── generation.py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utils/logging_config.py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data/vector_store/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tests/test_query.py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requirements.txt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.env.example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Dockerfile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5852160" y="16276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API ENDPOINTS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5852160" y="1965960"/>
            <a:ext cx="5486400" cy="960120"/>
          </a:xfrm>
          <a:prstGeom prst="roundRect">
            <a:avLst>
              <a:gd fmla="val 7619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6080760" y="208483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990011"/>
                </a:solidFill>
                <a:latin typeface="Courier New"/>
                <a:ea typeface="Courier New"/>
                <a:cs typeface="Courier New"/>
                <a:sym typeface="Courier New"/>
              </a:rPr>
              <a:t>GET </a:t>
            </a:r>
            <a:r>
              <a:rPr b="1" i="0" lang="en-US" sz="1400" u="none" cap="none" strike="noStrike">
                <a:solidFill>
                  <a:srgbClr val="271C1D"/>
                </a:solidFill>
                <a:latin typeface="Courier New"/>
                <a:ea typeface="Courier New"/>
                <a:cs typeface="Courier New"/>
                <a:sym typeface="Courier New"/>
              </a:rPr>
              <a:t>/health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6080760" y="2423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Simple liveness check for the running service.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5852160" y="3063240"/>
            <a:ext cx="5486400" cy="1600200"/>
          </a:xfrm>
          <a:prstGeom prst="roundRect">
            <a:avLst>
              <a:gd fmla="val 4571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6080760" y="318211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990011"/>
                </a:solidFill>
                <a:latin typeface="Courier New"/>
                <a:ea typeface="Courier New"/>
                <a:cs typeface="Courier New"/>
                <a:sym typeface="Courier New"/>
              </a:rPr>
              <a:t>POST </a:t>
            </a:r>
            <a:r>
              <a:rPr b="1" i="0" lang="en-US" sz="1400" u="none" cap="none" strike="noStrike">
                <a:solidFill>
                  <a:srgbClr val="271C1D"/>
                </a:solidFill>
                <a:latin typeface="Courier New"/>
                <a:ea typeface="Courier New"/>
                <a:cs typeface="Courier New"/>
                <a:sym typeface="Courier New"/>
              </a:rPr>
              <a:t>/query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6080760" y="35204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71C1D"/>
                </a:solidFill>
                <a:latin typeface="Courier New"/>
                <a:ea typeface="Courier New"/>
                <a:cs typeface="Courier New"/>
                <a:sym typeface="Courier New"/>
              </a:rPr>
              <a:t>Request:  { "question": str 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6080760" y="382219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71C1D"/>
                </a:solidFill>
                <a:latin typeface="Courier New"/>
                <a:ea typeface="Courier New"/>
                <a:cs typeface="Courier New"/>
                <a:sym typeface="Courier New"/>
              </a:rPr>
              <a:t>Response: { "answer": str, "sources": [str] 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6080760" y="41605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Retrieves context, builds the prompt, calls the LLM, and returns a grounded answer.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5852160" y="4846320"/>
            <a:ext cx="310896" cy="31089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478" name="Google Shape;4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4339" y="490849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3"/>
          <p:cNvSpPr/>
          <p:nvPr/>
        </p:nvSpPr>
        <p:spPr>
          <a:xfrm>
            <a:off x="6263640" y="4791456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Vector store &amp; LLM connection loaded once at startup (FastAPI lifespan)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5852160" y="5376672"/>
            <a:ext cx="310896" cy="310896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FFFFFF.png" id="481" name="Google Shape;4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4339" y="5438851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3"/>
          <p:cNvSpPr/>
          <p:nvPr/>
        </p:nvSpPr>
        <p:spPr>
          <a:xfrm>
            <a:off x="6263640" y="5321808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CORS middleware enabled for the frontend origin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4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THE USER-FACING CHAT EXPERIENCE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Frontend — Streamlit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1807312" y="1453896"/>
            <a:ext cx="8577072" cy="4088078"/>
          </a:xfrm>
          <a:prstGeom prst="roundRect">
            <a:avLst>
              <a:gd fmla="val 1118" name="adj"/>
            </a:avLst>
          </a:prstGeom>
          <a:solidFill>
            <a:srgbClr val="FFFFFF"/>
          </a:solidFill>
          <a:ln cap="flat" cmpd="sng" w="15875">
            <a:solidFill>
              <a:srgbClr val="F5D3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3A1013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streamlit_home.png" id="493" name="Google Shape;4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9608" y="1536192"/>
            <a:ext cx="8412480" cy="3923486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4"/>
          <p:cNvSpPr/>
          <p:nvPr/>
        </p:nvSpPr>
        <p:spPr>
          <a:xfrm>
            <a:off x="502920" y="5752286"/>
            <a:ext cx="2624328" cy="713232"/>
          </a:xfrm>
          <a:prstGeom prst="roundRect">
            <a:avLst>
              <a:gd fmla="val 10256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612648" y="5862014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omments_990011.png" id="496" name="Google Shape;4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748" y="5973114"/>
            <a:ext cx="271577" cy="271577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4"/>
          <p:cNvSpPr/>
          <p:nvPr/>
        </p:nvSpPr>
        <p:spPr>
          <a:xfrm>
            <a:off x="1179576" y="5752286"/>
            <a:ext cx="183794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Chat-style Q&amp;A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3264408" y="5752286"/>
            <a:ext cx="2624328" cy="713232"/>
          </a:xfrm>
          <a:prstGeom prst="roundRect">
            <a:avLst>
              <a:gd fmla="val 10256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4"/>
          <p:cNvSpPr/>
          <p:nvPr/>
        </p:nvSpPr>
        <p:spPr>
          <a:xfrm>
            <a:off x="3374136" y="5862014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file_990011.png" id="500" name="Google Shape;5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5236" y="5973114"/>
            <a:ext cx="271577" cy="271577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4"/>
          <p:cNvSpPr/>
          <p:nvPr/>
        </p:nvSpPr>
        <p:spPr>
          <a:xfrm>
            <a:off x="3941064" y="5752286"/>
            <a:ext cx="183794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Cited sources shown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6025896" y="5752286"/>
            <a:ext cx="2624328" cy="713232"/>
          </a:xfrm>
          <a:prstGeom prst="roundRect">
            <a:avLst>
              <a:gd fmla="val 10256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6135624" y="5862014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plug_990011.png" id="504" name="Google Shape;5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6724" y="5973114"/>
            <a:ext cx="271577" cy="271577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4"/>
          <p:cNvSpPr/>
          <p:nvPr/>
        </p:nvSpPr>
        <p:spPr>
          <a:xfrm>
            <a:off x="6702552" y="5752286"/>
            <a:ext cx="183794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URL from env variable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8787384" y="5752286"/>
            <a:ext cx="2624328" cy="713232"/>
          </a:xfrm>
          <a:prstGeom prst="roundRect">
            <a:avLst>
              <a:gd fmla="val 10256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8897112" y="5862014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hield_990011.png" id="508" name="Google Shape;5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8212" y="5973114"/>
            <a:ext cx="271577" cy="271577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4"/>
          <p:cNvSpPr/>
          <p:nvPr/>
        </p:nvSpPr>
        <p:spPr>
          <a:xfrm>
            <a:off x="9464040" y="5752286"/>
            <a:ext cx="183794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Friendly error handling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5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A REAL QUESTION, ANSWERED FROM THE DOCUMENTATION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Live Demo — Grounded Answer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5"/>
          <p:cNvSpPr/>
          <p:nvPr/>
        </p:nvSpPr>
        <p:spPr>
          <a:xfrm>
            <a:off x="1761592" y="1453896"/>
            <a:ext cx="8668512" cy="4226633"/>
          </a:xfrm>
          <a:prstGeom prst="roundRect">
            <a:avLst>
              <a:gd fmla="val 1082" name="adj"/>
            </a:avLst>
          </a:prstGeom>
          <a:solidFill>
            <a:srgbClr val="FFFFFF"/>
          </a:solidFill>
          <a:ln cap="flat" cmpd="sng" w="15875">
            <a:solidFill>
              <a:srgbClr val="F5D3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3A1013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grounded_answer.png" id="520" name="Google Shape;5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3888" y="1536192"/>
            <a:ext cx="8503920" cy="406204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5"/>
          <p:cNvSpPr/>
          <p:nvPr/>
        </p:nvSpPr>
        <p:spPr>
          <a:xfrm>
            <a:off x="1843888" y="5799401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90011"/>
                </a:solidFill>
                <a:latin typeface="Calibri"/>
                <a:ea typeface="Calibri"/>
                <a:cs typeface="Calibri"/>
                <a:sym typeface="Calibri"/>
              </a:rPr>
              <a:t>Cited source: </a:t>
            </a:r>
            <a:r>
              <a:rPr b="0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ender3_s1.pdf · p.9    </a:t>
            </a:r>
            <a:r>
              <a:rPr b="0" i="1" lang="en-US" sz="125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·   Structured, step-by-step answer grounded entirely in the manual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6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INTERACTIVE SWAGGER DOCUMENTATION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API Reference — Endpoints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1715872" y="1426464"/>
            <a:ext cx="8759952" cy="4270437"/>
          </a:xfrm>
          <a:prstGeom prst="roundRect">
            <a:avLst>
              <a:gd fmla="val 1071" name="adj"/>
            </a:avLst>
          </a:prstGeom>
          <a:solidFill>
            <a:srgbClr val="FFFFFF"/>
          </a:solidFill>
          <a:ln cap="flat" cmpd="sng" w="15875">
            <a:solidFill>
              <a:srgbClr val="F5D3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3A1013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swagger_api.png" id="532" name="Google Shape;5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8168" y="1508760"/>
            <a:ext cx="8595360" cy="410584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6"/>
          <p:cNvSpPr/>
          <p:nvPr/>
        </p:nvSpPr>
        <p:spPr>
          <a:xfrm>
            <a:off x="1798168" y="5815773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FastAPI auto-generates this OpenAPI 3.1 documentation from the route definitions and Pydantic schemas.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7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POST /QUERY EXECUTED FROM SWAGGER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API Reference — Live Request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2630272" y="1335024"/>
            <a:ext cx="6931152" cy="4342448"/>
          </a:xfrm>
          <a:prstGeom prst="roundRect">
            <a:avLst>
              <a:gd fmla="val 1053" name="adj"/>
            </a:avLst>
          </a:prstGeom>
          <a:solidFill>
            <a:srgbClr val="FFFFFF"/>
          </a:solidFill>
          <a:ln cap="flat" cmpd="sng" w="15875">
            <a:solidFill>
              <a:srgbClr val="F5D3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3A1013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swagger_api2.png" id="544" name="Google Shape;5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2568" y="1417320"/>
            <a:ext cx="6766560" cy="41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7"/>
          <p:cNvSpPr/>
          <p:nvPr/>
        </p:nvSpPr>
        <p:spPr>
          <a:xfrm>
            <a:off x="2712568" y="5796344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A real call returns a grounded answer with page-level citations and the exact source documents used.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8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10 HAND-TESTED QUESTIONS ACROSS THE KNOWLEDGE 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Evaluation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5" name="Google Shape;555;p18"/>
          <p:cNvGraphicFramePr/>
          <p:nvPr/>
        </p:nvGraphicFramePr>
        <p:xfrm>
          <a:off x="502920" y="1554480"/>
          <a:ext cx="5394960" cy="46177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56" name="Google Shape;556;p18"/>
          <p:cNvSpPr/>
          <p:nvPr/>
        </p:nvSpPr>
        <p:spPr>
          <a:xfrm>
            <a:off x="6263640" y="1737360"/>
            <a:ext cx="4983480" cy="1234440"/>
          </a:xfrm>
          <a:prstGeom prst="roundRect">
            <a:avLst>
              <a:gd fmla="val 5926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8"/>
          <p:cNvSpPr/>
          <p:nvPr/>
        </p:nvSpPr>
        <p:spPr>
          <a:xfrm>
            <a:off x="6492240" y="1847088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8001000" y="1737360"/>
            <a:ext cx="30632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Total Test Questions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6263640" y="3154680"/>
            <a:ext cx="4983480" cy="1234440"/>
          </a:xfrm>
          <a:prstGeom prst="roundRect">
            <a:avLst>
              <a:gd fmla="val 5926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8"/>
          <p:cNvSpPr/>
          <p:nvPr/>
        </p:nvSpPr>
        <p:spPr>
          <a:xfrm>
            <a:off x="6492240" y="3264408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8001000" y="3154680"/>
            <a:ext cx="30632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Grounded &amp; Correct Answers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6263640" y="4572000"/>
            <a:ext cx="4983480" cy="1234440"/>
          </a:xfrm>
          <a:prstGeom prst="roundRect">
            <a:avLst>
              <a:gd fmla="val 5926" name="adj"/>
            </a:avLst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8"/>
          <p:cNvSpPr/>
          <p:nvPr/>
        </p:nvSpPr>
        <p:spPr>
          <a:xfrm>
            <a:off x="6492240" y="4681728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8001000" y="4572000"/>
            <a:ext cx="30632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Correctly Refused (Unsupported)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6263640" y="6035040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Every response is grounded in retrieved documentation, or explicitly refused — no hallucinated answers observed.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9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SAMPLE ROWS FROM THE 10-QUESTION TEST 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9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Example Evaluated Questions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5" name="Google Shape;575;p19"/>
          <p:cNvGraphicFramePr/>
          <p:nvPr/>
        </p:nvGraphicFramePr>
        <p:xfrm>
          <a:off x="50292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{17B28892-6D8C-42C1-8BD6-BB0C6B6D29F7}</a:tableStyleId>
              </a:tblPr>
              <a:tblGrid>
                <a:gridCol w="8549650"/>
                <a:gridCol w="219455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sz="125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Result</a:t>
                      </a:r>
                      <a:endParaRPr sz="125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1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71C1D"/>
                          </a:solidFill>
                        </a:rPr>
                        <a:t>How do I level the Ender-3 S1 bed?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1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90011"/>
                          </a:solidFill>
                        </a:rPr>
                        <a:t>✓  Correct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71C1D"/>
                          </a:solidFill>
                        </a:rPr>
                        <a:t>What should I do if the Ender-3 S1 filament jams?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1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90011"/>
                          </a:solidFill>
                        </a:rPr>
                        <a:t>✓  Correct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71C1D"/>
                          </a:solidFill>
                        </a:rPr>
                        <a:t>How much Flash memory does the Arduino Uno have?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1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90011"/>
                          </a:solidFill>
                        </a:rPr>
                        <a:t>✓  Correct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71C1D"/>
                          </a:solidFill>
                        </a:rPr>
                        <a:t>What interface does the Raspberry Pi Pico use for I2C?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1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90011"/>
                          </a:solidFill>
                        </a:rPr>
                        <a:t>✓  Correct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71C1D"/>
                          </a:solidFill>
                        </a:rPr>
                        <a:t>What are the Arduino Uno analog input pins?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1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90011"/>
                          </a:solidFill>
                        </a:rPr>
                        <a:t>✓  Correct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71C1D"/>
                          </a:solidFill>
                        </a:rPr>
                        <a:t>What type of USB connection does the Arduino Uno use?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1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90011"/>
                          </a:solidFill>
                        </a:rPr>
                        <a:t>✓  Correct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71C1D"/>
                          </a:solidFill>
                        </a:rPr>
                        <a:t>What is the Ender-3 S1 build volume?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6C6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A6C6D"/>
                          </a:solidFill>
                        </a:rPr>
                        <a:t>⛨  Refused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71C1D"/>
                          </a:solidFill>
                        </a:rPr>
                        <a:t>Does the Ender-3 S1 have a filament sensor?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6C6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A6C6D"/>
                          </a:solidFill>
                        </a:rPr>
                        <a:t>⛨  Refused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71C1D"/>
                          </a:solidFill>
                        </a:rPr>
                        <a:t>What is the default Arduino Uno baud rate?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6C6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A6C6D"/>
                          </a:solidFill>
                        </a:rPr>
                        <a:t>⛨  Refused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1C1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71C1D"/>
                          </a:solidFill>
                        </a:rPr>
                        <a:t>What microcontroller chip does the Raspberry Pi Pico use?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6C6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A6C6D"/>
                          </a:solidFill>
                        </a:rPr>
                        <a:t>⛨  Refused</a:t>
                      </a:r>
                      <a:endParaRPr sz="1200" u="none" cap="none" strike="noStrike"/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B"/>
                    </a:solidFill>
                  </a:tcPr>
                </a:tc>
              </a:tr>
            </a:tbl>
          </a:graphicData>
        </a:graphic>
      </p:graphicFrame>
      <p:sp>
        <p:nvSpPr>
          <p:cNvPr id="576" name="Google Shape;576;p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0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KEEPING ANSWERS HONEST AND RELIABLE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0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Grounding, Limitations &amp; Testing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0"/>
          <p:cNvSpPr/>
          <p:nvPr/>
        </p:nvSpPr>
        <p:spPr>
          <a:xfrm>
            <a:off x="502920" y="157276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502920" y="1920240"/>
            <a:ext cx="347472" cy="347472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imes_990011.png" id="587" name="Google Shape;5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101" y="1998421"/>
            <a:ext cx="191110" cy="19111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20"/>
          <p:cNvSpPr/>
          <p:nvPr/>
        </p:nvSpPr>
        <p:spPr>
          <a:xfrm>
            <a:off x="960120" y="1865376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Irrelevant retrieved chunks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502920" y="2432304"/>
            <a:ext cx="347472" cy="347472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imes_990011.png" id="590" name="Google Shape;5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101" y="2510485"/>
            <a:ext cx="191110" cy="19111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0"/>
          <p:cNvSpPr/>
          <p:nvPr/>
        </p:nvSpPr>
        <p:spPr>
          <a:xfrm>
            <a:off x="960120" y="2377440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Missing information in source documents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502920" y="2944368"/>
            <a:ext cx="347472" cy="347472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imes_990011.png" id="593" name="Google Shape;5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101" y="3022549"/>
            <a:ext cx="191110" cy="19111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20"/>
          <p:cNvSpPr/>
          <p:nvPr/>
        </p:nvSpPr>
        <p:spPr>
          <a:xfrm>
            <a:off x="960120" y="2889504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Ambiguous user questions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502920" y="3456432"/>
            <a:ext cx="347472" cy="347472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imes_990011.png" id="596" name="Google Shape;5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101" y="3534613"/>
            <a:ext cx="191110" cy="19111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0"/>
          <p:cNvSpPr/>
          <p:nvPr/>
        </p:nvSpPr>
        <p:spPr>
          <a:xfrm>
            <a:off x="960120" y="3401568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Similar information overlapping across documents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5989320" y="157276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MITIGATIONS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5989320" y="1920240"/>
            <a:ext cx="347472" cy="347472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hield_990011.png" id="600" name="Google Shape;6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7501" y="1998421"/>
            <a:ext cx="191110" cy="19111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20"/>
          <p:cNvSpPr/>
          <p:nvPr/>
        </p:nvSpPr>
        <p:spPr>
          <a:xfrm>
            <a:off x="6446520" y="1865376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Semantic retrieval with multiple (top-8) chunks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0"/>
          <p:cNvSpPr/>
          <p:nvPr/>
        </p:nvSpPr>
        <p:spPr>
          <a:xfrm>
            <a:off x="5989320" y="2432304"/>
            <a:ext cx="347472" cy="347472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hield_990011.png" id="603" name="Google Shape;6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7501" y="2510485"/>
            <a:ext cx="191110" cy="19111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0"/>
          <p:cNvSpPr/>
          <p:nvPr/>
        </p:nvSpPr>
        <p:spPr>
          <a:xfrm>
            <a:off x="6446520" y="2377440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Explicit grounding instructions in the prompt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0"/>
          <p:cNvSpPr/>
          <p:nvPr/>
        </p:nvSpPr>
        <p:spPr>
          <a:xfrm>
            <a:off x="5989320" y="2944368"/>
            <a:ext cx="347472" cy="347472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hield_990011.png" id="606" name="Google Shape;6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7501" y="3022549"/>
            <a:ext cx="191110" cy="19111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0"/>
          <p:cNvSpPr/>
          <p:nvPr/>
        </p:nvSpPr>
        <p:spPr>
          <a:xfrm>
            <a:off x="6446520" y="2889504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Source references returned with every answer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5989320" y="3456432"/>
            <a:ext cx="347472" cy="347472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hield_990011.png" id="609" name="Google Shape;6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7501" y="3534613"/>
            <a:ext cx="191110" cy="19111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20"/>
          <p:cNvSpPr/>
          <p:nvPr/>
        </p:nvSpPr>
        <p:spPr>
          <a:xfrm>
            <a:off x="6446520" y="3401568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Refusal behavior for unsupported questions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502920" y="4160520"/>
            <a:ext cx="10744200" cy="1874520"/>
          </a:xfrm>
          <a:prstGeom prst="roundRect">
            <a:avLst>
              <a:gd fmla="val 3902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0"/>
          <p:cNvSpPr/>
          <p:nvPr/>
        </p:nvSpPr>
        <p:spPr>
          <a:xfrm>
            <a:off x="777240" y="44348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flask_990011.png" id="613" name="Google Shape;6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693" y="4630293"/>
            <a:ext cx="477774" cy="477774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20"/>
          <p:cNvSpPr/>
          <p:nvPr/>
        </p:nvSpPr>
        <p:spPr>
          <a:xfrm>
            <a:off x="1874520" y="4343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AUTOMATED TESTING — PYTEST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1874520" y="4645152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 endpoint  ·  Successful query  ·  Invalid query validation (422)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1874520" y="5102352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Kernel → Restart &amp; Run All verified for the notebook end-to-end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9052560" y="4434840"/>
            <a:ext cx="2011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 passed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1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PUBLISHING THE PROJECT AND WHAT'S 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1"/>
          <p:cNvSpPr/>
          <p:nvPr/>
        </p:nvSpPr>
        <p:spPr>
          <a:xfrm>
            <a:off x="502920" y="603504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00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990011"/>
                </a:solidFill>
                <a:latin typeface="Cambria"/>
                <a:ea typeface="Cambria"/>
                <a:cs typeface="Cambria"/>
                <a:sym typeface="Cambria"/>
              </a:rPr>
              <a:t>Deployment &amp; Future 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1"/>
          <p:cNvSpPr/>
          <p:nvPr/>
        </p:nvSpPr>
        <p:spPr>
          <a:xfrm>
            <a:off x="502920" y="15727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VERSION CONTROL &amp; DEPLOYMENT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1"/>
          <p:cNvSpPr/>
          <p:nvPr/>
        </p:nvSpPr>
        <p:spPr>
          <a:xfrm>
            <a:off x="502920" y="1920240"/>
            <a:ext cx="365760" cy="365760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github_990011.png" id="629" name="Google Shape;6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20025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21"/>
          <p:cNvSpPr/>
          <p:nvPr/>
        </p:nvSpPr>
        <p:spPr>
          <a:xfrm>
            <a:off x="1005840" y="1865376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Public GitHub repository with a clean commit history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1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github_990011.png" id="632" name="Google Shape;6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26243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21"/>
          <p:cNvSpPr/>
          <p:nvPr/>
        </p:nvSpPr>
        <p:spPr>
          <a:xfrm>
            <a:off x="1005840" y="2487168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.gitignore excludes .venv, .env, caches, logs &amp; large vector store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1"/>
          <p:cNvSpPr/>
          <p:nvPr/>
        </p:nvSpPr>
        <p:spPr>
          <a:xfrm>
            <a:off x="502920" y="3163824"/>
            <a:ext cx="365760" cy="365760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github_990011.png" id="635" name="Google Shape;6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32461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1"/>
          <p:cNvSpPr/>
          <p:nvPr/>
        </p:nvSpPr>
        <p:spPr>
          <a:xfrm>
            <a:off x="1005840" y="310896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Dockerfile included for the backend service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502920" y="3785616"/>
            <a:ext cx="365760" cy="365760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github_990011.png" id="638" name="Google Shape;6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38679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1"/>
          <p:cNvSpPr/>
          <p:nvPr/>
        </p:nvSpPr>
        <p:spPr>
          <a:xfrm>
            <a:off x="1005840" y="3730752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README includes complete setup and usage instructions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5989320" y="15727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21F3A"/>
                </a:solidFill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5989320" y="1920240"/>
            <a:ext cx="365760" cy="365760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rocket_990011.png" id="642" name="Google Shape;64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1616" y="20025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21"/>
          <p:cNvSpPr/>
          <p:nvPr/>
        </p:nvSpPr>
        <p:spPr>
          <a:xfrm>
            <a:off x="6492240" y="1865376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Hybrid keyword + semantic retrieval, with reranking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1"/>
          <p:cNvSpPr/>
          <p:nvPr/>
        </p:nvSpPr>
        <p:spPr>
          <a:xfrm>
            <a:off x="5989320" y="2542032"/>
            <a:ext cx="365760" cy="365760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rocket_990011.png" id="645" name="Google Shape;6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1616" y="26243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1"/>
          <p:cNvSpPr/>
          <p:nvPr/>
        </p:nvSpPr>
        <p:spPr>
          <a:xfrm>
            <a:off x="6492240" y="2487168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Larger, more extensive evaluation dataset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1"/>
          <p:cNvSpPr/>
          <p:nvPr/>
        </p:nvSpPr>
        <p:spPr>
          <a:xfrm>
            <a:off x="5989320" y="3163824"/>
            <a:ext cx="365760" cy="365760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rocket_990011.png" id="648" name="Google Shape;6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1616" y="32461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21"/>
          <p:cNvSpPr/>
          <p:nvPr/>
        </p:nvSpPr>
        <p:spPr>
          <a:xfrm>
            <a:off x="6492240" y="310896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Conversation-aware retrieval &amp; streaming responses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1"/>
          <p:cNvSpPr/>
          <p:nvPr/>
        </p:nvSpPr>
        <p:spPr>
          <a:xfrm>
            <a:off x="5989320" y="3785616"/>
            <a:ext cx="365760" cy="365760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rocket_990011.png" id="651" name="Google Shape;65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1616" y="38679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21"/>
          <p:cNvSpPr/>
          <p:nvPr/>
        </p:nvSpPr>
        <p:spPr>
          <a:xfrm>
            <a:off x="6492240" y="3730752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Authentication, user management &amp; cloud deployment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1"/>
          <p:cNvSpPr/>
          <p:nvPr/>
        </p:nvSpPr>
        <p:spPr>
          <a:xfrm>
            <a:off x="5989320" y="4407408"/>
            <a:ext cx="365760" cy="365760"/>
          </a:xfrm>
          <a:prstGeom prst="ellipse">
            <a:avLst/>
          </a:prstGeom>
          <a:solidFill>
            <a:srgbClr val="FBE9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rocket_990011.png" id="654" name="Google Shape;6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1616" y="448970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21"/>
          <p:cNvSpPr/>
          <p:nvPr/>
        </p:nvSpPr>
        <p:spPr>
          <a:xfrm>
            <a:off x="6492240" y="4352544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C1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1C1D"/>
                </a:solidFill>
                <a:latin typeface="Calibri"/>
                <a:ea typeface="Calibri"/>
                <a:cs typeface="Calibri"/>
                <a:sym typeface="Calibri"/>
              </a:rPr>
              <a:t>Multimodal / Computer Vision integration (Extended Track)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1"/>
          <p:cNvSpPr/>
          <p:nvPr/>
        </p:nvSpPr>
        <p:spPr>
          <a:xfrm>
            <a:off x="502920" y="5349240"/>
            <a:ext cx="10744200" cy="868680"/>
          </a:xfrm>
          <a:prstGeom prst="roundRect">
            <a:avLst>
              <a:gd fmla="val 8421" name="adj"/>
            </a:avLst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1"/>
          <p:cNvSpPr/>
          <p:nvPr/>
        </p:nvSpPr>
        <p:spPr>
          <a:xfrm>
            <a:off x="731520" y="551383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_990011.png" id="658" name="Google Shape;65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964" y="563727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21"/>
          <p:cNvSpPr/>
          <p:nvPr/>
        </p:nvSpPr>
        <p:spPr>
          <a:xfrm>
            <a:off x="1463040" y="5349240"/>
            <a:ext cx="9601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Runs fully locally today — no cloud dependency — with a clear roadmap toward production hardening.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Youssef Farid Ramzy Haddad  |  ITI Graduation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6C6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6C6D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F0A15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2"/>
          <p:cNvSpPr/>
          <p:nvPr/>
        </p:nvSpPr>
        <p:spPr>
          <a:xfrm>
            <a:off x="-2286000" y="-2011680"/>
            <a:ext cx="5486400" cy="548640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2"/>
          <p:cNvSpPr/>
          <p:nvPr/>
        </p:nvSpPr>
        <p:spPr>
          <a:xfrm>
            <a:off x="9875520" y="3931920"/>
            <a:ext cx="5029200" cy="502920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2"/>
          <p:cNvSpPr/>
          <p:nvPr/>
        </p:nvSpPr>
        <p:spPr>
          <a:xfrm>
            <a:off x="5413248" y="960120"/>
            <a:ext cx="1371600" cy="137160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ip_FFFFFF.png" id="670" name="Google Shape;6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6148" y="13030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22"/>
          <p:cNvSpPr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Questions &amp; Demo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2"/>
          <p:cNvSpPr/>
          <p:nvPr/>
        </p:nvSpPr>
        <p:spPr>
          <a:xfrm>
            <a:off x="6053323" y="4315968"/>
            <a:ext cx="54900" cy="54900"/>
          </a:xfrm>
          <a:prstGeom prst="ellipse">
            <a:avLst/>
          </a:prstGeom>
          <a:solidFill>
            <a:srgbClr val="F5D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2"/>
          <p:cNvSpPr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Youssef Farid Ramzy Haddad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D3D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5D3D7"/>
                </a:solidFill>
                <a:latin typeface="Calibri"/>
                <a:ea typeface="Calibri"/>
                <a:cs typeface="Calibri"/>
                <a:sym typeface="Calibri"/>
              </a:rPr>
              <a:t>Level 2 Summer Training · Graduation Project · Information Technology Institute (ITI)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2026-09-11T02:55:16Z</dcterms:created>
  <dc:creator>Youssef Farid Ramzy Haddad</dc:creator>
</cp:coreProperties>
</file>